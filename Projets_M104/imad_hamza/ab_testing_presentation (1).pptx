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1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C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C5B"/>
                </a:solidFill>
                <a:latin typeface="Arial"/>
              </a:rPr>
              <a:t>Distribution des Groupes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EAB-4CC3-B966-E68AE45AA92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EAB-4CC3-B966-E68AE45AA9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AD (Traitement)</c:v>
                </c:pt>
                <c:pt idx="1">
                  <c:v>PSA (Contrôle)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564577</c:v>
                </c:pt>
                <c:pt idx="1">
                  <c:v>23524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EAB-4CC3-B966-E68AE45AA9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C5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C5B"/>
                </a:solidFill>
                <a:latin typeface="Arial"/>
              </a:rPr>
              <a:t>Taux de Conversion par Groupe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D8-4B3A-BA71-7C19F1A05F0A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D8-4B3A-BA71-7C19F1A05F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AD (Traitement)</c:v>
                </c:pt>
                <c:pt idx="1">
                  <c:v>PSA (Contrôle)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2.5499999999999998</c:v>
                </c:pt>
                <c:pt idx="1">
                  <c:v>1.79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D8-4B3A-BA71-7C19F1A05F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64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7132320" y="2011680"/>
            <a:ext cx="2743200" cy="27432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20116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</a:rPr>
              <a:t>PROJET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Testing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Optimisation des campagnes publicitaires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DBF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Marketing Campaign Dataset – Kaggle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Analyse Statistique  •  Test Z  •  Insights Métier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 &amp; OBJECTIFS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09728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Problématique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Une entreprise souhaite améliorer ses performances marketing en optimisant ses campagnes publicitaires.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8503920" cy="9144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109728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548640" y="2167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Question Principale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414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version B (ad) permet-elle d'obtenir un taux de conversion significativement plus élevé que la version A (psa) 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218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Secondaires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5" name="Shape 13"/>
          <p:cNvSpPr/>
          <p:nvPr/>
        </p:nvSpPr>
        <p:spPr>
          <a:xfrm>
            <a:off x="320040" y="3611880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Text 14"/>
          <p:cNvSpPr/>
          <p:nvPr/>
        </p:nvSpPr>
        <p:spPr>
          <a:xfrm>
            <a:off x="41148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Q1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" y="4133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Quelle est l'ampleur de l'amélioration (uplift) 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9" name="Shape 17"/>
          <p:cNvSpPr/>
          <p:nvPr/>
        </p:nvSpPr>
        <p:spPr>
          <a:xfrm>
            <a:off x="3154680" y="3611880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324612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Q2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46120" y="4133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résultats sont-ils stables dans le temps 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89320" y="3611880"/>
            <a:ext cx="26517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3" name="Shape 21"/>
          <p:cNvSpPr/>
          <p:nvPr/>
        </p:nvSpPr>
        <p:spPr>
          <a:xfrm>
            <a:off x="5989320" y="3611880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22"/>
          <p:cNvSpPr/>
          <p:nvPr/>
        </p:nvSpPr>
        <p:spPr>
          <a:xfrm>
            <a:off x="608076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</a:rPr>
              <a:t>Q3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80760" y="4133088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Existe-t-il des segments de clients plus sensibles à la variation 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VARIABLES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65960" cy="100584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588 101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Utilisateurs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65960" cy="100584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246888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groupes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AD vs PSA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051560"/>
            <a:ext cx="1965960" cy="100584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461772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Variables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51560"/>
            <a:ext cx="1965960" cy="1005840"/>
          </a:xfrm>
          <a:prstGeom prst="rect">
            <a:avLst/>
          </a:prstGeom>
          <a:solidFill>
            <a:srgbClr val="1A2C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676656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jours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6002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</a:rPr>
              <a:t>Couverture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Description des Variables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06040"/>
          <a:ext cx="8503920" cy="2331721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Identifiant unique de l'utilisateur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(traitement) ou psa (contrôle)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Booléen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= converti, False = non converti  ← variable cible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total de publicités vues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most_ads_day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 de la semaine avec le plus d'expositions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1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most_ads_hour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Heure avec le plus d'expositions (0–23)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HYPOTHÈSES &amp; MÉTHODOLOGIE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6908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69080" cy="1097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H₀  —  Hypothèse Nulle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Il n'existe pas de différence significative entre le taux de conversion du groupe AD et du groupe PSA.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p(AD) = p(PSA)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6908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69080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489204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H₁  —  Hypothèse Alternative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61848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taux de conversion du groupe AD (version B) est significativement supérieur à celui du groupe PSA (version A).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p(AD) &gt; p(PSA)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Paramètres du Test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20116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7" name="Shape 15"/>
          <p:cNvSpPr/>
          <p:nvPr/>
        </p:nvSpPr>
        <p:spPr>
          <a:xfrm>
            <a:off x="320040" y="3547872"/>
            <a:ext cx="201168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8" name="Text 16"/>
          <p:cNvSpPr/>
          <p:nvPr/>
        </p:nvSpPr>
        <p:spPr>
          <a:xfrm>
            <a:off x="41148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Seuil α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 (0.05)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468880" y="3547872"/>
            <a:ext cx="20116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1" name="Shape 19"/>
          <p:cNvSpPr/>
          <p:nvPr/>
        </p:nvSpPr>
        <p:spPr>
          <a:xfrm>
            <a:off x="2468880" y="3547872"/>
            <a:ext cx="201168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256032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Test principal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032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Z proportions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17720" y="3547872"/>
            <a:ext cx="20116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5" name="Shape 23"/>
          <p:cNvSpPr/>
          <p:nvPr/>
        </p:nvSpPr>
        <p:spPr>
          <a:xfrm>
            <a:off x="4617720" y="3547872"/>
            <a:ext cx="201168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6" name="Text 24"/>
          <p:cNvSpPr/>
          <p:nvPr/>
        </p:nvSpPr>
        <p:spPr>
          <a:xfrm>
            <a:off x="470916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Test secondaire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Chi-2 indépendance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66560" y="3547872"/>
            <a:ext cx="201168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9" name="Shape 27"/>
          <p:cNvSpPr/>
          <p:nvPr/>
        </p:nvSpPr>
        <p:spPr>
          <a:xfrm>
            <a:off x="6766560" y="3547872"/>
            <a:ext cx="2011680" cy="91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0" name="Text 28"/>
          <p:cNvSpPr/>
          <p:nvPr/>
        </p:nvSpPr>
        <p:spPr>
          <a:xfrm>
            <a:off x="6858000" y="36758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Taille d'effet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40233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Cohen's 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NETTOYAGE DES DONNÉES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57200" cy="173736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329184" y="169164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207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00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Lecture du fichier CSV avec pandas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Vérification des dimensions (588 101 × 7)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1" name="Shape 9"/>
          <p:cNvSpPr/>
          <p:nvPr/>
        </p:nvSpPr>
        <p:spPr>
          <a:xfrm>
            <a:off x="3154680" y="1097280"/>
            <a:ext cx="457200" cy="173736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3163824" y="169164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1207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Normalisation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1600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Nettoyage des noms de colonnes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en minuscules, espaces → underscores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5989320" y="1097280"/>
            <a:ext cx="457200" cy="173736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5998464" y="169164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12070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Valeurs manquantes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600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Vérification : df.isnull().sum()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Résultat : 0 valeur manquante 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457200" cy="173736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329184" y="365760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8680" y="3172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566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Vérification : df.duplicated().sum()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Résultat : 0 doublon détecté ✅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0632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6" name="Shape 24"/>
          <p:cNvSpPr/>
          <p:nvPr/>
        </p:nvSpPr>
        <p:spPr>
          <a:xfrm>
            <a:off x="3154680" y="3063240"/>
            <a:ext cx="457200" cy="173736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5"/>
          <p:cNvSpPr/>
          <p:nvPr/>
        </p:nvSpPr>
        <p:spPr>
          <a:xfrm>
            <a:off x="3163824" y="365760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03320" y="3172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de données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03320" y="3566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converted → bool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test_group → category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89320" y="30632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31" name="Shape 29"/>
          <p:cNvSpPr/>
          <p:nvPr/>
        </p:nvSpPr>
        <p:spPr>
          <a:xfrm>
            <a:off x="5989320" y="3063240"/>
            <a:ext cx="457200" cy="173736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2" name="Text 30"/>
          <p:cNvSpPr/>
          <p:nvPr/>
        </p:nvSpPr>
        <p:spPr>
          <a:xfrm>
            <a:off x="5998464" y="3657600"/>
            <a:ext cx="438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537960" y="31729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356616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Distribution de total_ads analysée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Valeurs extrêmes conservées (comportement réel)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EXPLORATOIRE (EDA)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5156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09160" y="105156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20040" y="4370832"/>
            <a:ext cx="85039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8" name="Text 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C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💡  Observation : le groupe AD représente 96% des utilisateurs. Le taux de conversion AD (2.55%) est supérieur au PSA (1.79%) — soit un uplift apparent de +42%.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STATISTIQUE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011680" cy="109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5.94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C5B"/>
                </a:solidFill>
              </a:rPr>
              <a:t>Statistique 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Test Z proportions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2011680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2" name="Text 10"/>
          <p:cNvSpPr/>
          <p:nvPr/>
        </p:nvSpPr>
        <p:spPr>
          <a:xfrm>
            <a:off x="246888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0.001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88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C5B"/>
                </a:solidFill>
              </a:rPr>
              <a:t>P-value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Très significatif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461772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+42.3%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C5B"/>
                </a:solidFill>
              </a:rPr>
              <a:t>Uplift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AD vs PSA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1" name="Shape 19"/>
          <p:cNvSpPr/>
          <p:nvPr/>
        </p:nvSpPr>
        <p:spPr>
          <a:xfrm>
            <a:off x="6766560" y="1051560"/>
            <a:ext cx="201168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2" name="Text 20"/>
          <p:cNvSpPr/>
          <p:nvPr/>
        </p:nvSpPr>
        <p:spPr>
          <a:xfrm>
            <a:off x="6766560" y="12344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0.0047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C5B"/>
                </a:solidFill>
              </a:rPr>
              <a:t>Cohen's 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Effet faible–modéré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Intervalles de Confiance à 95%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63240"/>
          <a:ext cx="8503920" cy="1371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Borne Inférieure IC 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Borne Supérieure IC 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(Traitement)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PSA (Contrôle)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Text 25"/>
          <p:cNvSpPr/>
          <p:nvPr/>
        </p:nvSpPr>
        <p:spPr>
          <a:xfrm>
            <a:off x="457200" y="45994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C5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Chi-2 d'indépendance : χ² = 35.23  |  p-value &lt; 0.001  →  Résultat confirmé ✅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5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RÉPONSES AUX QUESTIONS SECONDAIRES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09728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</a:rPr>
              <a:t>Q1  —  Quelle est l'ampleur de l'amélioration (uplift) 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990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L'uplift observé est de +42.3% : le groupe AD affiche un taux de 2.55% contre 1.79% pour le groupe PSA.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1920240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6675120" y="11887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C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+42.3%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20040" y="2395728"/>
            <a:ext cx="8503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109728" cy="1234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</a:rPr>
              <a:t>Q2  —  Les résultats sont-ils stables dans le temps 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77063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</a:t>
            </a:r>
            <a:r>
              <a:rPr lang="en-US" sz="11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Oui, la supériorité du groupe AD est constante sur l'ensemble des 7 jours de la semaine.
</a:t>
            </a:r>
            <a:r>
              <a:rPr lang="en-US" sz="1150" b="1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📌  </a:t>
            </a:r>
            <a:r>
              <a:rPr lang="en-US" sz="115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 Mercredi présente le pic de conversion le plus élevé pour les deux groupes.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85039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109728" cy="12344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548640" y="37764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5B"/>
                </a:solidFill>
              </a:rPr>
              <a:t>Q3  —  Existe-t-il des segments de clients plus sensibles à la variation 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🕐  Heure : </a:t>
            </a: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utilisateurs exposés entre 16h–20h montrent une conversion plus forte.
</a:t>
            </a:r>
            <a:r>
              <a:rPr lang="en-US" sz="11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📅  Jour : </a:t>
            </a: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Mercredi et Jeudi sont les jours à plus forte réponse.
</a:t>
            </a:r>
            <a:r>
              <a:rPr lang="en-US" sz="1100" b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📊  Volume d'ads : </a:t>
            </a: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nombre modéré d'expositions (50–200 ads) semble optimal.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C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59E0B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Version B (AD) est Significativement Meilleure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8503920" cy="66751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✅  H₀ REJETÉE : p-value &lt; 0.001, bien en dessous du seuil α = 5%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587752"/>
            <a:ext cx="8503920" cy="66751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502920" y="261518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📈  Uplift confirmé de +42.3% — résultat statistiquement et pratiquement significatif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392424"/>
            <a:ext cx="8503920" cy="66751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502920" y="341985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📅  Résultats stables sur les 7 jours — robustesse confirmée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4197096"/>
            <a:ext cx="8503920" cy="66751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🎯  Cibler les créneaux Mercredi–Jeudi, 16h–20h pour maximiser la conversion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3"/>
          <p:cNvSpPr/>
          <p:nvPr/>
        </p:nvSpPr>
        <p:spPr>
          <a:xfrm>
            <a:off x="411480" y="474573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5B"/>
                </a:solidFill>
              </a:rPr>
              <a:t>Recommandation : Déployer la campagne AD à l'ensemble de la base utilisateurs en priorité sur les créneaux identifiés.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757</Words>
  <Application>Microsoft Office PowerPoint</Application>
  <PresentationFormat>Affichage à l'écran (16:9)</PresentationFormat>
  <Paragraphs>145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Marketing – A/B Testing</dc:title>
  <dc:subject>PptxGenJS Presentation</dc:subject>
  <dc:creator>PptxGenJS</dc:creator>
  <cp:lastModifiedBy>Mohamed Amine Imad</cp:lastModifiedBy>
  <cp:revision>1</cp:revision>
  <dcterms:created xsi:type="dcterms:W3CDTF">2026-04-06T15:01:56Z</dcterms:created>
  <dcterms:modified xsi:type="dcterms:W3CDTF">2026-04-21T11:36:29Z</dcterms:modified>
</cp:coreProperties>
</file>